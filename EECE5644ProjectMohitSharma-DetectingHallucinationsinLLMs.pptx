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4630400" cy="8229600"/>
  <p:notesSz cx="8229600" cy="14630400"/>
  <p:embeddedFontLst>
    <p:embeddedFont>
      <p:font typeface="Inconsolata" pitchFamily="1" charset="0"/>
      <p:regular r:id="rId7"/>
    </p:embeddedFont>
    <p:embeddedFont>
      <p:font typeface="Montserrat Black" panose="00000A00000000000000" pitchFamily="2" charset="0"/>
      <p:regular r:id="rId8"/>
      <p:bold r:id="rId9"/>
    </p:embeddedFont>
    <p:embeddedFont>
      <p:font typeface="Montserrat Light" panose="00000400000000000000" pitchFamily="2" charset="0"/>
      <p:regular r:id="rId10"/>
      <p:italic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74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5907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1460" y="521851"/>
            <a:ext cx="12227362" cy="1107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Detecting Hallucinations in Large Language Models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1201460" y="1684734"/>
            <a:ext cx="7880747" cy="443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 Feature-Based Classification Approach</a:t>
            </a:r>
            <a:endParaRPr lang="en-US" sz="2750" dirty="0"/>
          </a:p>
        </p:txBody>
      </p:sp>
      <p:sp>
        <p:nvSpPr>
          <p:cNvPr id="4" name="Text 2"/>
          <p:cNvSpPr/>
          <p:nvPr/>
        </p:nvSpPr>
        <p:spPr>
          <a:xfrm>
            <a:off x="1201460" y="2335411"/>
            <a:ext cx="1222736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Mohit Sharma · EECE 5644: Introduction to Machine Learning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01464" y="2953576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Why This Matters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01460" y="3428908"/>
            <a:ext cx="5897523" cy="165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LLMs deployed in healthcare, legal research, and education</a:t>
            </a:r>
            <a:endParaRPr lang="en-US" sz="160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They confidently generate factually incorrect content — hallucination</a:t>
            </a:r>
            <a:endParaRPr lang="en-US" sz="160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Industry losses exceed $250M annually</a:t>
            </a:r>
            <a:endParaRPr lang="en-US" sz="160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Current detection methods are expensive (LLM-as-a-Judge) or require model internals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68165" y="5510992"/>
            <a:ext cx="5144572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Used Lightweight classifier:</a:t>
            </a:r>
            <a:r>
              <a:rPr lang="en-US" sz="135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No GPU or proprietary API required at inference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538799" y="2942068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Approach</a:t>
            </a:r>
            <a:endParaRPr lang="en-US" sz="17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8799" y="3314468"/>
            <a:ext cx="5897523" cy="25431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935614" y="5375356"/>
            <a:ext cx="1337963" cy="167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Hallucinated?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935614" y="4786652"/>
            <a:ext cx="1337963" cy="167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Classifier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7935614" y="4203894"/>
            <a:ext cx="1337963" cy="167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8 NLP Features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7935614" y="3615190"/>
            <a:ext cx="1337963" cy="167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LLM Response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366583" y="6133691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Goal of the project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1378615" y="6488702"/>
            <a:ext cx="5897523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Design an interpretable hallucination detection method using responses from 3 LLMs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378615" y="6865653"/>
            <a:ext cx="5897523" cy="853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Mistral Small</a:t>
            </a:r>
            <a:endParaRPr lang="en-US" sz="160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Llama 3.3 70B</a:t>
            </a:r>
            <a:endParaRPr lang="en-US" sz="160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Llama 3.1 8B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68291" y="553879"/>
            <a:ext cx="7773472" cy="52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Dataset, Features &amp; Key Discovery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1568291" y="1123236"/>
            <a:ext cx="10638830" cy="416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HaluEval Summarization Subset — 5,000 balanced samples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68291" y="1652840"/>
            <a:ext cx="2082165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Dataset – published at EMNLP 2023 Conference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68291" y="2083515"/>
            <a:ext cx="5543669" cy="100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10,000 CNN/Daily Mail articles with correct and hallucinated summaries</a:t>
            </a:r>
            <a:endParaRPr lang="en-US" sz="16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Subtle factual errors injected by ChatGPT</a:t>
            </a:r>
            <a:endParaRPr lang="en-US" sz="16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Sampled 5,000 rows — 2,500 per class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95156" y="6794636"/>
            <a:ext cx="4029313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8 Features Computed Per Response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568291" y="5261787"/>
            <a:ext cx="5543669" cy="1291801"/>
          </a:xfrm>
          <a:prstGeom prst="roundRect">
            <a:avLst>
              <a:gd name="adj" fmla="val 638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2233891" y="5425623"/>
            <a:ext cx="2082165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Small caveat w.r.t dataset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233891" y="5772067"/>
            <a:ext cx="4783693" cy="693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QA subset achieved 96% F1. Response length alone achieved 94% F1. Switched to summarization subset: realistic 73% F1.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568291" y="3258852"/>
            <a:ext cx="5543669" cy="1841302"/>
          </a:xfrm>
          <a:prstGeom prst="roundRect">
            <a:avLst>
              <a:gd name="adj" fmla="val 497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1742599" y="3359468"/>
            <a:ext cx="2427208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Experiment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10564" y="3359471"/>
            <a:ext cx="2427208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F1 Score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742599" y="3699956"/>
            <a:ext cx="2427208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Response length only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10564" y="3699959"/>
            <a:ext cx="2427208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0.94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742599" y="4124666"/>
            <a:ext cx="2427208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All 8 features (QA)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10564" y="4136696"/>
            <a:ext cx="2427208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0.95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742599" y="4525308"/>
            <a:ext cx="2427208" cy="462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All 8 features (summarization)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10564" y="4585471"/>
            <a:ext cx="2427208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0.74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525822" y="1652843"/>
            <a:ext cx="3369945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Mean Feature Values by Label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525822" y="1990467"/>
            <a:ext cx="5543669" cy="2642592"/>
          </a:xfrm>
          <a:prstGeom prst="roundRect">
            <a:avLst>
              <a:gd name="adj" fmla="val 34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7700724" y="2079049"/>
            <a:ext cx="1505426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Feature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9546908" y="2079049"/>
            <a:ext cx="1501616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Correct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1389281" y="2079049"/>
            <a:ext cx="1505426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Hallucinated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700724" y="2479694"/>
            <a:ext cx="1505426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Response length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9546908" y="2479694"/>
            <a:ext cx="1501616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50.3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1389281" y="2479694"/>
            <a:ext cx="1505426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70.4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700724" y="2880340"/>
            <a:ext cx="1505426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ROUGE-1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9546908" y="2880340"/>
            <a:ext cx="1501616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0.152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1389281" y="2880340"/>
            <a:ext cx="1505426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0.183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7700724" y="3280985"/>
            <a:ext cx="1505426" cy="462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Semantic similarity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9546908" y="3280985"/>
            <a:ext cx="1501616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0.749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11389281" y="3280985"/>
            <a:ext cx="1505426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0.759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700724" y="3912731"/>
            <a:ext cx="1505426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BERTScore F1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9546908" y="3912731"/>
            <a:ext cx="1501616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0.783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11389281" y="3912731"/>
            <a:ext cx="1505426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0.779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7700724" y="4313376"/>
            <a:ext cx="1505426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NLI score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9546908" y="4313376"/>
            <a:ext cx="1501616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+0.010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11389281" y="4313376"/>
            <a:ext cx="1505426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−0.039</a:t>
            </a:r>
            <a:endParaRPr lang="en-US" sz="13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7BCFEC6-B5A8-C597-1832-929EEE84522D}"/>
              </a:ext>
            </a:extLst>
          </p:cNvPr>
          <p:cNvSpPr txBox="1"/>
          <p:nvPr/>
        </p:nvSpPr>
        <p:spPr>
          <a:xfrm>
            <a:off x="1695156" y="7079731"/>
            <a:ext cx="211885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Inconsolata" pitchFamily="1" charset="0"/>
                <a:ea typeface="Inconsolata" pitchFamily="1" charset="0"/>
              </a:rPr>
              <a:t>Response Length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Inconsolata" pitchFamily="1" charset="0"/>
                <a:ea typeface="Inconsolata" pitchFamily="1" charset="0"/>
              </a:rPr>
              <a:t>Hedge Count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Inconsolata" pitchFamily="1" charset="0"/>
                <a:ea typeface="Inconsolata" pitchFamily="1" charset="0"/>
              </a:rPr>
              <a:t>ROUGE-1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Inconsolata" pitchFamily="1" charset="0"/>
                <a:ea typeface="Inconsolata" pitchFamily="1" charset="0"/>
              </a:rPr>
              <a:t>BLEU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CECC422-53B5-7073-25B8-DF59935F4FE8}"/>
              </a:ext>
            </a:extLst>
          </p:cNvPr>
          <p:cNvSpPr txBox="1"/>
          <p:nvPr/>
        </p:nvSpPr>
        <p:spPr>
          <a:xfrm>
            <a:off x="3814009" y="7054539"/>
            <a:ext cx="256982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Inconsolata" pitchFamily="1" charset="0"/>
                <a:ea typeface="Inconsolata" pitchFamily="1" charset="0"/>
              </a:rPr>
              <a:t>Semantic Similarity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Inconsolata" pitchFamily="1" charset="0"/>
                <a:ea typeface="Inconsolata" pitchFamily="1" charset="0"/>
              </a:rPr>
              <a:t>BERT Score F1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Inconsolata" pitchFamily="1" charset="0"/>
                <a:ea typeface="Inconsolata" pitchFamily="1" charset="0"/>
              </a:rPr>
              <a:t>ROUGE-L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Inconsolata" pitchFamily="1" charset="0"/>
                <a:ea typeface="Inconsolata" pitchFamily="1" charset="0"/>
              </a:rPr>
              <a:t>NLI Entailment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6F159F68-8478-C8DE-0AD8-87D8C2951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5633" y="6477399"/>
            <a:ext cx="2383858" cy="1644887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1D424755-5DBB-E026-4700-2B2A3EA6FD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9729" y="6553588"/>
            <a:ext cx="2383858" cy="1578169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08E8CA3B-B2A8-E078-C1B7-E7F7C8F94F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5633" y="4760749"/>
            <a:ext cx="2376476" cy="1632429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684C22CE-6E7C-25B7-AFEB-906326832F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9729" y="4784809"/>
            <a:ext cx="2383858" cy="15966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68291" y="531019"/>
            <a:ext cx="7714417" cy="52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Model Comparison &amp; Key Findings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1568291" y="1100376"/>
            <a:ext cx="11493698" cy="832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Stratified 5-fold CV for tuning + 80/20 test set for final evaluation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68291" y="2238851"/>
            <a:ext cx="4676775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Tuned Model Results on Test Set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568291" y="2636639"/>
            <a:ext cx="5543669" cy="3967639"/>
          </a:xfrm>
          <a:prstGeom prst="roundRect">
            <a:avLst>
              <a:gd name="adj" fmla="val 23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742837" y="2725222"/>
            <a:ext cx="768668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Model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852261" y="2725222"/>
            <a:ext cx="764858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957876" y="2725222"/>
            <a:ext cx="764858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63490" y="2725222"/>
            <a:ext cx="764858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Recall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69104" y="2725222"/>
            <a:ext cx="768668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AUC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42837" y="3125867"/>
            <a:ext cx="1109424" cy="34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Gradient Boosting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852261" y="3125867"/>
            <a:ext cx="764858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0.728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957876" y="3125867"/>
            <a:ext cx="764858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0.746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63490" y="3125867"/>
            <a:ext cx="764858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0.710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69104" y="3125867"/>
            <a:ext cx="768668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0.801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42837" y="3793709"/>
            <a:ext cx="768668" cy="462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852261" y="3757613"/>
            <a:ext cx="764858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0.726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957876" y="3757613"/>
            <a:ext cx="764858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0.738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63490" y="3757613"/>
            <a:ext cx="764858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0.714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69104" y="3757613"/>
            <a:ext cx="768668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0.794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742837" y="4389358"/>
            <a:ext cx="1109424" cy="693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852261" y="4389358"/>
            <a:ext cx="764858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0.723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957876" y="4389358"/>
            <a:ext cx="764858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0.752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63490" y="4389358"/>
            <a:ext cx="764858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0.696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169104" y="4389358"/>
            <a:ext cx="768668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0.805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742837" y="5252204"/>
            <a:ext cx="768668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SVM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852261" y="5252204"/>
            <a:ext cx="764858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0.722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957876" y="5252204"/>
            <a:ext cx="764858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0.759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063490" y="5252204"/>
            <a:ext cx="764858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0.688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169104" y="5252204"/>
            <a:ext cx="768668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0.806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742837" y="5652849"/>
            <a:ext cx="768668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KNN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852261" y="5652849"/>
            <a:ext cx="764858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0.721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957876" y="5652849"/>
            <a:ext cx="764858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0.723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063490" y="5652849"/>
            <a:ext cx="764858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0.720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169104" y="5652849"/>
            <a:ext cx="768668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0.784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742837" y="6053495"/>
            <a:ext cx="768668" cy="462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Decision Tree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2852261" y="6053495"/>
            <a:ext cx="764858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0.691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957876" y="6053495"/>
            <a:ext cx="764858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0.708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063490" y="6053495"/>
            <a:ext cx="764858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0.674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169104" y="6053495"/>
            <a:ext cx="768668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0.758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568291" y="6826019"/>
            <a:ext cx="5543669" cy="819269"/>
          </a:xfrm>
          <a:prstGeom prst="roundRect">
            <a:avLst>
              <a:gd name="adj" fmla="val 1116"/>
            </a:avLst>
          </a:prstGeom>
          <a:solidFill>
            <a:srgbClr val="D7D9D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860" y="6971705"/>
            <a:ext cx="208121" cy="166568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2109549" y="6905625"/>
            <a:ext cx="4835843" cy="462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Tuning impact:</a:t>
            </a:r>
            <a:r>
              <a:rPr lang="en-US" sz="16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Decision Tree +0.024 F1, KNN +0.016 F1. Ensemble methods already near ceiling.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7525822" y="2254091"/>
            <a:ext cx="374690" cy="374690"/>
          </a:xfrm>
          <a:prstGeom prst="roundRect">
            <a:avLst>
              <a:gd name="adj" fmla="val 2440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159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5" name="Text 42"/>
          <p:cNvSpPr/>
          <p:nvPr/>
        </p:nvSpPr>
        <p:spPr>
          <a:xfrm>
            <a:off x="7588210" y="2321322"/>
            <a:ext cx="249793" cy="31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1950" dirty="0"/>
          </a:p>
        </p:txBody>
      </p:sp>
      <p:sp>
        <p:nvSpPr>
          <p:cNvPr id="46" name="Text 43"/>
          <p:cNvSpPr/>
          <p:nvPr/>
        </p:nvSpPr>
        <p:spPr>
          <a:xfrm>
            <a:off x="8022788" y="2311241"/>
            <a:ext cx="2651522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Performance across models is more or less similar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8022787" y="2657693"/>
            <a:ext cx="5380391" cy="693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Gradient Boosting and Random Forest have marginal edge compared to single models. Logistic regression performing well means features are </a:t>
            </a:r>
            <a:r>
              <a:rPr lang="en-US" sz="1600" dirty="0" err="1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aprrox</a:t>
            </a: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 Linearly separable.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7525822" y="3631644"/>
            <a:ext cx="374690" cy="374690"/>
          </a:xfrm>
          <a:prstGeom prst="roundRect">
            <a:avLst>
              <a:gd name="adj" fmla="val 2440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159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9" name="Text 46"/>
          <p:cNvSpPr/>
          <p:nvPr/>
        </p:nvSpPr>
        <p:spPr>
          <a:xfrm>
            <a:off x="7588210" y="3698875"/>
            <a:ext cx="249793" cy="31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</a:t>
            </a:r>
            <a:endParaRPr lang="en-US" sz="1950" dirty="0"/>
          </a:p>
        </p:txBody>
      </p:sp>
      <p:sp>
        <p:nvSpPr>
          <p:cNvPr id="50" name="Text 47"/>
          <p:cNvSpPr/>
          <p:nvPr/>
        </p:nvSpPr>
        <p:spPr>
          <a:xfrm>
            <a:off x="8022788" y="3688794"/>
            <a:ext cx="3040975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Precision vs recall tradeoff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8034820" y="4047278"/>
            <a:ext cx="5046702" cy="693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SVM/LR: high precision, lower recall which is conservative. RF/XGB: balanced, which is better for real deployment where missing hallucinations is costly.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7525822" y="5081390"/>
            <a:ext cx="374690" cy="374690"/>
          </a:xfrm>
          <a:prstGeom prst="roundRect">
            <a:avLst>
              <a:gd name="adj" fmla="val 2440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159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3" name="Text 50"/>
          <p:cNvSpPr/>
          <p:nvPr/>
        </p:nvSpPr>
        <p:spPr>
          <a:xfrm>
            <a:off x="7588210" y="5148620"/>
            <a:ext cx="249793" cy="31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</a:t>
            </a:r>
            <a:endParaRPr lang="en-US" sz="1950" dirty="0"/>
          </a:p>
        </p:txBody>
      </p:sp>
      <p:sp>
        <p:nvSpPr>
          <p:cNvPr id="54" name="Text 51"/>
          <p:cNvSpPr/>
          <p:nvPr/>
        </p:nvSpPr>
        <p:spPr>
          <a:xfrm>
            <a:off x="8022788" y="5126508"/>
            <a:ext cx="2082165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AUC vs F1 split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8022788" y="5484991"/>
            <a:ext cx="5046702" cy="693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SVM achieves highest AUC (0.806) despite lower F1. It is excellent at ranking predictions, threshold is adjustable for different use cases.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7525822" y="6386751"/>
            <a:ext cx="374690" cy="374690"/>
          </a:xfrm>
          <a:prstGeom prst="roundRect">
            <a:avLst>
              <a:gd name="adj" fmla="val 2440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159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7" name="Text 54"/>
          <p:cNvSpPr/>
          <p:nvPr/>
        </p:nvSpPr>
        <p:spPr>
          <a:xfrm>
            <a:off x="7588210" y="6466013"/>
            <a:ext cx="249793" cy="31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4</a:t>
            </a:r>
            <a:endParaRPr lang="en-US" sz="1950" dirty="0"/>
          </a:p>
        </p:txBody>
      </p:sp>
      <p:sp>
        <p:nvSpPr>
          <p:cNvPr id="58" name="Text 55"/>
          <p:cNvSpPr/>
          <p:nvPr/>
        </p:nvSpPr>
        <p:spPr>
          <a:xfrm>
            <a:off x="8022788" y="6443901"/>
            <a:ext cx="2488763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Realistic performance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8022788" y="6761442"/>
            <a:ext cx="5543668" cy="52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73% F1 reflects genuine task difficulty. Even GPT-4 achieves ~75% on HaluEval (Zhang et al., 2023).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35123" y="442198"/>
            <a:ext cx="8409027" cy="48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Conclusions, Limitations &amp; Future Work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1935123" y="1197292"/>
            <a:ext cx="19492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Key Conclusions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995361" y="6199389"/>
            <a:ext cx="1949291" cy="317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950288" y="6503970"/>
            <a:ext cx="4775365" cy="917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Domain-adaptive detectors matched to deployment context</a:t>
            </a:r>
            <a:endParaRPr lang="en-US" sz="160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Fine-tuned transformer classifiers (DeBERTa, RoBERTa)</a:t>
            </a:r>
            <a:endParaRPr lang="en-US" sz="160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Token-level uncertainty features (entropy) to complement current set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512844" y="1197292"/>
            <a:ext cx="3737729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Comparison to Current Approaches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512844" y="1826198"/>
            <a:ext cx="6034714" cy="2837373"/>
          </a:xfrm>
          <a:prstGeom prst="roundRect">
            <a:avLst>
              <a:gd name="adj" fmla="val 29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676436" y="1616976"/>
            <a:ext cx="978098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Approach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479182" y="1641040"/>
            <a:ext cx="974288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616390" y="1629006"/>
            <a:ext cx="974288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73911" y="1616707"/>
            <a:ext cx="1384891" cy="42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Interpretable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76435" y="1960829"/>
            <a:ext cx="1542703" cy="631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LLM-as-a-Judge (industry)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382940" y="2008954"/>
            <a:ext cx="974288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0.85+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664523" y="2008953"/>
            <a:ext cx="974288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High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31109" y="2033021"/>
            <a:ext cx="978098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No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76436" y="2755815"/>
            <a:ext cx="1542702" cy="842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SelfCheckGPT (zero-resource SOTA)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419033" y="2936292"/>
            <a:ext cx="974288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0.44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640459" y="2924260"/>
            <a:ext cx="974288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Medium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67203" y="2948321"/>
            <a:ext cx="978098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No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76435" y="3797400"/>
            <a:ext cx="1586185" cy="631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Ours </a:t>
            </a:r>
          </a:p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(feature-based)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467161" y="3905686"/>
            <a:ext cx="974288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0.73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700612" y="3869590"/>
            <a:ext cx="974288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Low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31103" y="3857556"/>
            <a:ext cx="978098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Yes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38487" y="6975215"/>
            <a:ext cx="5189815" cy="951905"/>
          </a:xfrm>
          <a:prstGeom prst="roundRect">
            <a:avLst>
              <a:gd name="adj" fmla="val 961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GB" sz="1600"/>
          </a:p>
        </p:txBody>
      </p:sp>
      <p:sp>
        <p:nvSpPr>
          <p:cNvPr id="26" name="Text 23"/>
          <p:cNvSpPr/>
          <p:nvPr/>
        </p:nvSpPr>
        <p:spPr>
          <a:xfrm>
            <a:off x="8536811" y="7121299"/>
            <a:ext cx="4527352" cy="631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Tradeoff:</a:t>
            </a:r>
            <a:r>
              <a:rPr lang="en-US" sz="16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Some accuracy for interpretability and zero inference cost which is practical for resource-constrained deployments.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935123" y="1504679"/>
            <a:ext cx="311825" cy="194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1935123" y="1770791"/>
            <a:ext cx="3515201" cy="22860"/>
          </a:xfrm>
          <a:prstGeom prst="rect">
            <a:avLst/>
          </a:prstGeom>
          <a:solidFill>
            <a:srgbClr val="15161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7"/>
          <p:cNvSpPr/>
          <p:nvPr/>
        </p:nvSpPr>
        <p:spPr>
          <a:xfrm>
            <a:off x="1935123" y="1846262"/>
            <a:ext cx="3283387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Dataset quality &gt; model choice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1935123" y="2154143"/>
            <a:ext cx="3960351" cy="631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QA length bias inflated scores to 96% artificially. All 6 models converged to similar F1 on cleaner summarization dataset.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923934" y="3104888"/>
            <a:ext cx="311825" cy="194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1935967" y="3407102"/>
            <a:ext cx="3515201" cy="22860"/>
          </a:xfrm>
          <a:prstGeom prst="rect">
            <a:avLst/>
          </a:prstGeom>
          <a:solidFill>
            <a:srgbClr val="15161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1"/>
          <p:cNvSpPr/>
          <p:nvPr/>
        </p:nvSpPr>
        <p:spPr>
          <a:xfrm>
            <a:off x="1960034" y="3470541"/>
            <a:ext cx="3269813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Hallucination detection is hard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1948004" y="3766385"/>
            <a:ext cx="4115912" cy="631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73% F1 on subtle summarization hallucinations is realistic, consistent with SOTA results in literature.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1960878" y="4560694"/>
            <a:ext cx="311825" cy="194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1972910" y="4802763"/>
            <a:ext cx="3515201" cy="22860"/>
          </a:xfrm>
          <a:prstGeom prst="rect">
            <a:avLst/>
          </a:prstGeom>
          <a:solidFill>
            <a:srgbClr val="15161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Text 35"/>
          <p:cNvSpPr/>
          <p:nvPr/>
        </p:nvSpPr>
        <p:spPr>
          <a:xfrm>
            <a:off x="1972914" y="4902284"/>
            <a:ext cx="3335060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Domain shift is a real challenge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1984938" y="5234246"/>
            <a:ext cx="3910536" cy="631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Detector trained on news summaries does not transfer to conversational QA — need for domain-specific systems.</a:t>
            </a:r>
            <a:endParaRPr lang="en-US" sz="16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B2E07746-6E1C-E343-58DC-4AE291C5C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6908" y="4802847"/>
            <a:ext cx="6034714" cy="195260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1376</TotalTime>
  <Words>618</Words>
  <Application>Microsoft Office PowerPoint</Application>
  <PresentationFormat>Custom</PresentationFormat>
  <Paragraphs>152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Montserrat Light</vt:lpstr>
      <vt:lpstr>Inconsolata</vt:lpstr>
      <vt:lpstr>Montserrat Black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Mohit Sharma</cp:lastModifiedBy>
  <cp:revision>3</cp:revision>
  <dcterms:created xsi:type="dcterms:W3CDTF">2026-04-21T20:55:15Z</dcterms:created>
  <dcterms:modified xsi:type="dcterms:W3CDTF">2026-04-22T19:53:04Z</dcterms:modified>
</cp:coreProperties>
</file>